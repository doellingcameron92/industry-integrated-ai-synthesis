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project: an AI advisor that helps ministries of health and development banks decide which health-investment levers are associated with longer lives, while staying honest about uncertainty. Four prior capstone projects are integrated; I will show what each contributes and how they interact.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Frame the decision and the stakes. Stress that the bottleneck is synthesis under time pressure, and that the failure mode I most fear is an over-confident or fabricated number reaching a cabinet paper.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Walk the seven steps: scope check, profile/peers/notes, scenario simulation, neural second opinion, draft + grounding audit, human approval, structured JSON answer. Every number in the answer traces to a tool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Colours map layers to prior projects. Evidence layer (Data Science), second opinion (Deep Learning), brief generation (Generative AI), control layer (Agentic Workflows). The control layer decides when each may be used.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blog post's methodological lessons are now hard constraints in code. The list of mis-predicted countries is the most valuable carry-over: it tells the agent when to trust itself less.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Be candid: I kept the neural model because the experiment was informative, not because it won. The disagreement signal is the useful product; the dropout spread on its own would have been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Explain why the audit is strict and why I fixed a false rejection by enriching the bundle rather than loosening the check. Mention that a silent fallback is not governance.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Almost unchanged from the Research Triage Assistant; what is new is that the tools wrap the three other layers and the approval gate is coupled to the machine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For each tradeoff say what was given up and what was bought. The through-line: I traded fluency and flexibility for traceability, because the audience is a public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Tie each risk to a concrete mechanism in the code and to a framework citation. Mention the planted lobbyist injection in the Cambodia notes that is flagged and ignored.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Emphasise that the evaluation changed the system. Low confidence on Nigeria is the system working, not failing: Nigeria is one of the countries the blog post identified as systematically over-predicted.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Own the limits plainly. These are also printed in the notebook's boundaries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Close by connecting to employer expectations and invite questions. Total ~15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Health-Investment Policy Advisor</a:t>
            </a:r>
          </a:p>
        </p:txBody>
      </p:sp>
      <p:sp>
        <p:nvSpPr>
          <p:cNvPr id="3" name="TextBox 2"/>
          <p:cNvSpPr txBox="1"/>
          <p:nvPr/>
        </p:nvSpPr>
        <p:spPr>
          <a:xfrm>
            <a:off x="457200" y="1143000"/>
            <a:ext cx="11247120" cy="731520"/>
          </a:xfrm>
          <a:prstGeom prst="rect">
            <a:avLst/>
          </a:prstGeom>
          <a:noFill/>
        </p:spPr>
        <p:txBody>
          <a:bodyPr wrap="square">
            <a:spAutoFit/>
          </a:bodyPr>
          <a:lstStyle/>
          <a:p>
            <a:pPr>
              <a:defRPr sz="1800">
                <a:solidFill>
                  <a:srgbClr val="555555"/>
                </a:solidFill>
              </a:defRPr>
            </a:pPr>
            <a:r>
              <a:t>An integrated statistical + deep-learning + generative + agentic system for public-sector decision support</a:t>
            </a:r>
          </a:p>
        </p:txBody>
      </p:sp>
      <p:sp>
        <p:nvSpPr>
          <p:cNvPr id="4" name="TextBox 3"/>
          <p:cNvSpPr txBox="1"/>
          <p:nvPr/>
        </p:nvSpPr>
        <p:spPr>
          <a:xfrm>
            <a:off x="548640" y="2057400"/>
            <a:ext cx="11064240" cy="5029200"/>
          </a:xfrm>
          <a:prstGeom prst="rect">
            <a:avLst/>
          </a:prstGeom>
          <a:noFill/>
        </p:spPr>
        <p:txBody>
          <a:bodyPr wrap="square">
            <a:spAutoFit/>
          </a:bodyPr>
          <a:lstStyle/>
          <a:p>
            <a:pPr>
              <a:spcAft>
                <a:spcPts val="1000"/>
              </a:spcAft>
              <a:defRPr sz="1800"/>
            </a:pPr>
            <a:r>
              <a:t>•  Cameron Doelling - AI Mastery Capstone</a:t>
            </a:r>
          </a:p>
          <a:p>
            <a:pPr>
              <a:spcAft>
                <a:spcPts val="1000"/>
              </a:spcAft>
              <a:defRPr sz="1800"/>
            </a:pPr>
            <a:r>
              <a:t>•  Integrative Industry Synthesis: mentor presentation and defense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Industry problem: where should a ministry put the next dollar?</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Sector: public policy / international development (ministries of health &amp; finance, development-bank country teams)</a:t>
            </a:r>
          </a:p>
          <a:p>
            <a:pPr>
              <a:spcAft>
                <a:spcPts val="1000"/>
              </a:spcAft>
              <a:defRPr sz="1800"/>
            </a:pPr>
            <a:r>
              <a:t>•  Decision: allocate a limited budget across water, sanitation, electricity, immunisation, schooling, health spend</a:t>
            </a:r>
          </a:p>
          <a:p>
            <a:pPr>
              <a:spcAft>
                <a:spcPts val="1000"/>
              </a:spcAft>
              <a:defRPr sz="1800"/>
            </a:pPr>
            <a:r>
              <a:t>•  Data exists (World Bank WDI, 217 countries, 2000-2022) but arrives as spreadsheets, not answers</a:t>
            </a:r>
          </a:p>
          <a:p>
            <a:pPr>
              <a:spcAft>
                <a:spcPts val="1000"/>
              </a:spcAft>
              <a:defRPr sz="1800"/>
            </a:pPr>
            <a:r>
              <a:t>•  Why AI fits: pattern recognition over public data + synthesis into a defensible brief</a:t>
            </a:r>
          </a:p>
          <a:p>
            <a:pPr>
              <a:spcAft>
                <a:spcPts val="1000"/>
              </a:spcAft>
              <a:defRPr sz="1800"/>
            </a:pPr>
            <a:r>
              <a:t>•  Why it is risky: national averages hide inequity; a fluent but ungrounded brief can steer public money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Integrated solution: one question in, one audited brief out</a:t>
            </a:r>
          </a:p>
        </p:txBody>
      </p:sp>
      <p:pic>
        <p:nvPicPr>
          <p:cNvPr id="3" name="Picture 2" descr="workflow.png"/>
          <p:cNvPicPr>
            <a:picLocks noChangeAspect="1"/>
          </p:cNvPicPr>
          <p:nvPr/>
        </p:nvPicPr>
        <p:blipFill>
          <a:blip r:embed="rId2"/>
          <a:stretch>
            <a:fillRect/>
          </a:stretch>
        </p:blipFill>
        <p:spPr>
          <a:xfrm>
            <a:off x="563727" y="1143000"/>
            <a:ext cx="11064240" cy="297520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Architecture: four prior projects, four layers</a:t>
            </a:r>
          </a:p>
        </p:txBody>
      </p:sp>
      <p:pic>
        <p:nvPicPr>
          <p:cNvPr id="3" name="Picture 2" descr="architecture.png"/>
          <p:cNvPicPr>
            <a:picLocks noChangeAspect="1"/>
          </p:cNvPicPr>
          <p:nvPr/>
        </p:nvPicPr>
        <p:blipFill>
          <a:blip r:embed="rId2"/>
          <a:stretch>
            <a:fillRect/>
          </a:stretch>
        </p:blipFill>
        <p:spPr>
          <a:xfrm>
            <a:off x="983767" y="1143000"/>
            <a:ext cx="10224159" cy="553211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Project 1 - Data Science Blog Post -&gt; evidence layer</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World Bank life-expectancy pipeline reused: leaky under-5 mortality dropped, sparse indicators dropped</a:t>
            </a:r>
          </a:p>
          <a:p>
            <a:pPr>
              <a:spcAft>
                <a:spcPts val="1000"/>
              </a:spcAft>
              <a:defRPr sz="1800"/>
            </a:pPr>
            <a:r>
              <a:t>•  Country-grouped validation (no leakage between years of the same country)</a:t>
            </a:r>
          </a:p>
          <a:p>
            <a:pPr>
              <a:spcAft>
                <a:spcPts val="1000"/>
              </a:spcAft>
              <a:defRPr sz="1800"/>
            </a:pPr>
            <a:r>
              <a:t>•  Gradient boosting: grouped-CV R2 0.857, MAE 2.43 yrs; holdout R2 0.820, MAE 2.96 yrs</a:t>
            </a:r>
          </a:p>
          <a:p>
            <a:pPr>
              <a:spcAft>
                <a:spcPts val="1000"/>
              </a:spcAft>
              <a:defRPr sz="1800"/>
            </a:pPr>
            <a:r>
              <a:t>•  Scenario simulator became the simulate_intervention tool; peer finder became peer_countries</a:t>
            </a:r>
          </a:p>
          <a:p>
            <a:pPr>
              <a:spcAft>
                <a:spcPts val="1000"/>
              </a:spcAft>
              <a:defRPr sz="1800"/>
            </a:pPr>
            <a:r>
              <a:t>•  Known hard cases (NGA, ZAF, TCD, SWZ...) became an evidence-quality flag that lowers confidence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Project 2 - Deep Learning Systems -&gt; second opinion &amp; uncertainty</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Same controlled-experiment design as the Fashion-MNIST CNN: baseline vs BatchNorm + Dropout, all else equal</a:t>
            </a:r>
          </a:p>
          <a:p>
            <a:pPr>
              <a:spcAft>
                <a:spcPts val="1000"/>
              </a:spcAft>
              <a:defRPr sz="1800"/>
            </a:pPr>
            <a:r>
              <a:t>•  Regularised MLP test MAE 2.94 vs baseline 3.14 yrs; smaller train/test gap</a:t>
            </a:r>
          </a:p>
          <a:p>
            <a:pPr>
              <a:spcAft>
                <a:spcPts val="1000"/>
              </a:spcAft>
              <a:defRPr sz="1800"/>
            </a:pPr>
            <a:r>
              <a:t>•  Neural net does NOT beat boosting -&gt; deployed as a second opinion, not the primary model</a:t>
            </a:r>
          </a:p>
          <a:p>
            <a:pPr>
              <a:spcAft>
                <a:spcPts val="1000"/>
              </a:spcAft>
              <a:defRPr sz="1800"/>
            </a:pPr>
            <a:r>
              <a:t>•  Boosting error when models agree: 2.65 yrs; when they disagree: 3.60 yrs</a:t>
            </a:r>
          </a:p>
          <a:p>
            <a:pPr>
              <a:spcAft>
                <a:spcPts val="1000"/>
              </a:spcAft>
              <a:defRPr sz="1800"/>
            </a:pPr>
            <a:r>
              <a:t>•  MC-dropout spread alone was ~uncorrelated with error; disagreement is what tracks error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Project 3 - Generative AI -&gt; brief writer + grounding audit</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Pluggable writer: deterministic template offline; OpenAI writer when a key is present</a:t>
            </a:r>
          </a:p>
          <a:p>
            <a:pPr>
              <a:spcAft>
                <a:spcPts val="1000"/>
              </a:spcAft>
              <a:defRPr sz="1800"/>
            </a:pPr>
            <a:r>
              <a:t>•  Memorisation/format audit from the Transformer project repurposed as a GroundingAudit</a:t>
            </a:r>
          </a:p>
          <a:p>
            <a:pPr>
              <a:spcAft>
                <a:spcPts val="1000"/>
              </a:spcAft>
              <a:defRPr sz="1800"/>
            </a:pPr>
            <a:r>
              <a:t>•  Every number in the draft must match the EvidenceBundle (+/-0.05); disclaimer required; causal wording rejected</a:t>
            </a:r>
          </a:p>
          <a:p>
            <a:pPr>
              <a:spcAft>
                <a:spcPts val="1000"/>
              </a:spcAft>
              <a:defRPr sz="1800"/>
            </a:pPr>
            <a:r>
              <a:t>•  A rejected LLM draft falls back to the template AND is reported as a caveat - safeguards must be visible</a:t>
            </a:r>
          </a:p>
          <a:p>
            <a:pPr>
              <a:spcAft>
                <a:spcPts val="1000"/>
              </a:spcAft>
              <a:defRPr sz="1800"/>
            </a:pPr>
            <a:r>
              <a:t>•  Nigeria brief: 37/37 numbers grounded; fabricated test paragraph: rejected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Project 4 - Agentic Workflows -&gt; control layer</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ReAct loop, Pydantic-typed tool contracts, tool allow-list, step/time/tool-call budgets</a:t>
            </a:r>
          </a:p>
          <a:p>
            <a:pPr>
              <a:spcAft>
                <a:spcPts val="1000"/>
              </a:spcAft>
              <a:defRPr sz="1800"/>
            </a:pPr>
            <a:r>
              <a:t>•  Scope refusal (individual medical advice, political messaging, data concealment)</a:t>
            </a:r>
          </a:p>
          <a:p>
            <a:pPr>
              <a:spcAft>
                <a:spcPts val="1000"/>
              </a:spcAft>
              <a:defRPr sz="1800"/>
            </a:pPr>
            <a:r>
              <a:t>•  Tool output scanned for prompt injection and treated as untrusted data</a:t>
            </a:r>
          </a:p>
          <a:p>
            <a:pPr>
              <a:spcAft>
                <a:spcPts val="1000"/>
              </a:spcAft>
              <a:defRPr sz="1800"/>
            </a:pPr>
            <a:r>
              <a:t>•  save_brief is the only side effect: requires grounding pass AND human approval</a:t>
            </a:r>
          </a:p>
          <a:p>
            <a:pPr>
              <a:spcAft>
                <a:spcPts val="1000"/>
              </a:spcAft>
              <a:defRPr sz="1800"/>
            </a:pPr>
            <a:r>
              <a:t>•  JSONL trace per run + episodic memory; structured output {answer, sources, confidence, caveats, refused}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Key tradeoffs</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Two-model pipeline (slower, more complex) &lt;-&gt; usable 'how much should I trust this?' signal</a:t>
            </a:r>
          </a:p>
          <a:p>
            <a:pPr>
              <a:spcAft>
                <a:spcPts val="1000"/>
              </a:spcAft>
              <a:defRPr sz="1800"/>
            </a:pPr>
            <a:r>
              <a:t>•  Deterministic planner by default (narrow phrasings) &lt;-&gt; reproducible, testable, auditable, free to run</a:t>
            </a:r>
          </a:p>
          <a:p>
            <a:pPr>
              <a:spcAft>
                <a:spcPts val="1000"/>
              </a:spcAft>
              <a:defRPr sz="1800"/>
            </a:pPr>
            <a:r>
              <a:t>•  Strict grounding (occasional false rejections) &lt;-&gt; no unsupported statistic is ever saved</a:t>
            </a:r>
          </a:p>
          <a:p>
            <a:pPr>
              <a:spcAft>
                <a:spcPts val="1000"/>
              </a:spcAft>
              <a:defRPr sz="1800"/>
            </a:pPr>
            <a:r>
              <a:t>•  Associational model only &lt;-&gt; honest about what the data can support; no causal claims</a:t>
            </a:r>
          </a:p>
          <a:p>
            <a:pPr>
              <a:spcAft>
                <a:spcPts val="1000"/>
              </a:spcAft>
              <a:defRPr sz="1800"/>
            </a:pPr>
            <a:r>
              <a:t>•  Caching fitted models (~90 s once) &lt;-&gt; notebook, tests and evaluation re-run in seconds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Ethics, governance and responsible use</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Causal misreading: '+3.0 years' is an association; stated in every scenario, brief and answer</a:t>
            </a:r>
          </a:p>
          <a:p>
            <a:pPr>
              <a:spcAft>
                <a:spcPts val="1000"/>
              </a:spcAft>
              <a:defRPr sz="1800"/>
            </a:pPr>
            <a:r>
              <a:t>•  Unequal reliability: HIV-burden / conflict / small states mis-predicted -&gt; flagged, confidence reduced (model-card principle)</a:t>
            </a:r>
          </a:p>
          <a:p>
            <a:pPr>
              <a:spcAft>
                <a:spcPts val="1000"/>
              </a:spcAft>
              <a:defRPr sz="1800"/>
            </a:pPr>
            <a:r>
              <a:t>•  Hallucination &amp; indirect prompt injection: grounding audit + untrusted-data guardrail (OWASP LLM Top 10)</a:t>
            </a:r>
          </a:p>
          <a:p>
            <a:pPr>
              <a:spcAft>
                <a:spcPts val="1000"/>
              </a:spcAft>
              <a:defRPr sz="1800"/>
            </a:pPr>
            <a:r>
              <a:t>•  Accountability: human approval before any side effect; full trace for audit (NIST AI RMF Govern/Manage)</a:t>
            </a:r>
          </a:p>
          <a:p>
            <a:pPr>
              <a:spcAft>
                <a:spcPts val="1000"/>
              </a:spcAft>
              <a:defRPr sz="1800"/>
            </a:pPr>
            <a:r>
              <a:t>•  Scope: refuses individual medical questions and political persuasion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Evaluation: 11 scenarios, 13 tests</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11/11 scenarios pass: golden paths, scope refusal, injection, approval denied, tool outage, hallucinating writer, low evidence quality, memory recall</a:t>
            </a:r>
          </a:p>
          <a:p>
            <a:pPr>
              <a:spcAft>
                <a:spcPts val="1000"/>
              </a:spcAft>
              <a:defRPr sz="1800"/>
            </a:pPr>
            <a:r>
              <a:t>•  Found &amp; fixed: brief could be drafted with zero successful simulations (tool-outage scenario)</a:t>
            </a:r>
          </a:p>
          <a:p>
            <a:pPr>
              <a:spcAft>
                <a:spcPts val="1000"/>
              </a:spcAft>
              <a:defRPr sz="1800"/>
            </a:pPr>
            <a:r>
              <a:t>•  Found &amp; fixed: hallucinating writer 'passed' via silent fallback -&gt; now recorded as rejected_draft caveat</a:t>
            </a:r>
          </a:p>
          <a:p>
            <a:pPr>
              <a:spcAft>
                <a:spcPts val="1000"/>
              </a:spcAft>
              <a:defRPr sz="1800"/>
            </a:pPr>
            <a:r>
              <a:t>•  Found: MC-dropout spread uncorrelated with error -&gt; added cross-model disagreement</a:t>
            </a:r>
          </a:p>
          <a:p>
            <a:pPr>
              <a:spcAft>
                <a:spcPts val="1000"/>
              </a:spcAft>
              <a:defRPr sz="1800"/>
            </a:pPr>
            <a:r>
              <a:t>•  Golden path (Nigeria): confidence 0.30 - low on purpose (low evidence quality + model disagreement)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Limitations</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National, annual data - cannot target districts or years; hides within-country inequity</a:t>
            </a:r>
          </a:p>
          <a:p>
            <a:pPr>
              <a:spcAft>
                <a:spcPts val="1000"/>
              </a:spcAft>
              <a:defRPr sz="1800"/>
            </a:pPr>
            <a:r>
              <a:t>•  Levers simulated independently; no cost model -&gt; ranks associations, not value for money</a:t>
            </a:r>
          </a:p>
          <a:p>
            <a:pPr>
              <a:spcAft>
                <a:spcPts val="1000"/>
              </a:spcAft>
              <a:defRPr sz="1800"/>
            </a:pPr>
            <a:r>
              <a:t>•  Rule-based planner handles a narrow set of phrasings; regex guardrails are evadable</a:t>
            </a:r>
          </a:p>
          <a:p>
            <a:pPr>
              <a:spcAft>
                <a:spcPts val="1000"/>
              </a:spcAft>
              <a:defRPr sz="1800"/>
            </a:pPr>
            <a:r>
              <a:t>•  Confidence is a heuristic adjustment, not a calibrated probability</a:t>
            </a:r>
          </a:p>
          <a:p>
            <a:pPr>
              <a:spcAft>
                <a:spcPts val="1000"/>
              </a:spcAft>
              <a:defRPr sz="1800"/>
            </a:pPr>
            <a:r>
              <a:t>•  LLM writer path untested against a live model in this submission (no API key)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3000" b="1">
                <a:solidFill>
                  <a:srgbClr val="1F3A5F"/>
                </a:solidFill>
              </a:defRPr>
            </a:pPr>
            <a:r>
              <a:t>Professional relevance and next steps</a:t>
            </a:r>
          </a:p>
        </p:txBody>
      </p:sp>
      <p:sp>
        <p:nvSpPr>
          <p:cNvPr id="3" name="TextBox 2"/>
          <p:cNvSpPr txBox="1"/>
          <p:nvPr/>
        </p:nvSpPr>
        <p:spPr>
          <a:xfrm>
            <a:off x="548640" y="1143000"/>
            <a:ext cx="11064240" cy="5029200"/>
          </a:xfrm>
          <a:prstGeom prst="rect">
            <a:avLst/>
          </a:prstGeom>
          <a:noFill/>
        </p:spPr>
        <p:txBody>
          <a:bodyPr wrap="square">
            <a:spAutoFit/>
          </a:bodyPr>
          <a:lstStyle/>
          <a:p>
            <a:pPr>
              <a:spcAft>
                <a:spcPts val="1000"/>
              </a:spcAft>
              <a:defRPr sz="1800"/>
            </a:pPr>
            <a:r>
              <a:t>•  Demonstrates: validated model -&gt; tooling; controlled DL experiments; verifiable generative output; governed agents</a:t>
            </a:r>
          </a:p>
          <a:p>
            <a:pPr>
              <a:spcAft>
                <a:spcPts val="1000"/>
              </a:spcAft>
              <a:defRPr sz="1800"/>
            </a:pPr>
            <a:r>
              <a:t>•  Demonstrates judgment about what NOT to build: no causal claims, no autonomy, no individual advice</a:t>
            </a:r>
          </a:p>
          <a:p>
            <a:pPr>
              <a:spcAft>
                <a:spcPts val="1000"/>
              </a:spcAft>
              <a:defRPr sz="1800"/>
            </a:pPr>
            <a:r>
              <a:t>•  Next: difference-in-differences / synthetic-control layer using the panel structure</a:t>
            </a:r>
          </a:p>
          <a:p>
            <a:pPr>
              <a:spcAft>
                <a:spcPts val="1000"/>
              </a:spcAft>
              <a:defRPr sz="1800"/>
            </a:pPr>
            <a:r>
              <a:t>•  Next: cost model (years gained per dollar); conformal intervals from grouped folds</a:t>
            </a:r>
          </a:p>
          <a:p>
            <a:pPr>
              <a:spcAft>
                <a:spcPts val="1000"/>
              </a:spcAft>
              <a:defRPr sz="1800"/>
            </a:pPr>
            <a:r>
              <a:t>•  Next: reviewed approval queue with second-signer rule for low-evidence-quality briefs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